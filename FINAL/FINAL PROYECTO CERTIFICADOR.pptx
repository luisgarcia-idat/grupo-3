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78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15777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4815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539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74906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6738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3220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5633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4734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2763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4353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96542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8961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7052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4568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96042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5090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47162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C54A4-EE15-4DE8-8F8A-EBA64498B358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414E6-5E78-4270-B933-1F1B9FA73C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174832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85BC4-12F9-D0C0-69F7-DD228C581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87778"/>
            <a:ext cx="8791575" cy="1586272"/>
          </a:xfrm>
        </p:spPr>
        <p:txBody>
          <a:bodyPr/>
          <a:lstStyle/>
          <a:p>
            <a:pPr algn="ctr"/>
            <a:r>
              <a:rPr lang="es-MX" dirty="0"/>
              <a:t>SOLUCIÓN DE ESCRITORIO</a:t>
            </a:r>
            <a:br>
              <a:rPr lang="es-MX" dirty="0"/>
            </a:br>
            <a:r>
              <a:rPr lang="es-MX" dirty="0"/>
              <a:t>PARA LA EMPRESA “BODEGA BYTE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4A80D2-1749-74C5-8AB4-09D22F5E3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5066" y="3602038"/>
            <a:ext cx="4796285" cy="2721124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>
                    <a:lumMod val="95000"/>
                  </a:schemeClr>
                </a:solidFill>
              </a:rPr>
              <a:t>Desarrollo del SOFTWARE</a:t>
            </a:r>
          </a:p>
          <a:p>
            <a:r>
              <a:rPr lang="es-ES" i="1" u="sng" dirty="0">
                <a:solidFill>
                  <a:schemeClr val="tx1">
                    <a:lumMod val="95000"/>
                  </a:schemeClr>
                </a:solidFill>
              </a:rPr>
              <a:t>Integrantes: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95000"/>
                  </a:schemeClr>
                </a:solidFill>
              </a:rPr>
              <a:t>Jim Zúñiga Fernández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95000"/>
                  </a:schemeClr>
                </a:solidFill>
              </a:rPr>
              <a:t>Luis Ángel García Cano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95000"/>
                  </a:schemeClr>
                </a:solidFill>
              </a:rPr>
              <a:t>Kristian Ricardo Román Fernández</a:t>
            </a:r>
            <a:endParaRPr lang="es-PE" dirty="0">
              <a:solidFill>
                <a:schemeClr val="tx1">
                  <a:lumMod val="95000"/>
                </a:schemeClr>
              </a:solidFill>
            </a:endParaRPr>
          </a:p>
          <a:p>
            <a:endParaRPr lang="es-PE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6CAE0CF-10A1-1FEF-576D-EBE3EC81E26D}"/>
              </a:ext>
            </a:extLst>
          </p:cNvPr>
          <p:cNvSpPr txBox="1"/>
          <p:nvPr/>
        </p:nvSpPr>
        <p:spPr>
          <a:xfrm>
            <a:off x="7261911" y="4085437"/>
            <a:ext cx="43722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i="1" u="sng" dirty="0"/>
              <a:t>Docente: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Johnny Bladimir Quispe Flores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/>
          </a:p>
          <a:p>
            <a:pPr algn="ctr"/>
            <a:r>
              <a:rPr lang="es-ES" i="1" u="sng" dirty="0"/>
              <a:t>Instituto: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Instituto Superior Tecnológico </a:t>
            </a:r>
            <a:r>
              <a:rPr lang="es-PE" dirty="0" err="1"/>
              <a:t>Idat</a:t>
            </a:r>
            <a:endParaRPr lang="es-PE" dirty="0"/>
          </a:p>
          <a:p>
            <a:endParaRPr lang="es-P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5883C75-83D7-10FF-C466-4FF6F237F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74" y="1760881"/>
            <a:ext cx="2005449" cy="1754326"/>
          </a:xfrm>
          <a:prstGeom prst="rect">
            <a:avLst/>
          </a:prstGeom>
        </p:spPr>
      </p:pic>
      <p:pic>
        <p:nvPicPr>
          <p:cNvPr id="8" name="Imagen 7" descr="Imagen que contiene Icono&#10;&#10;Descripción generada automáticamente">
            <a:extLst>
              <a:ext uri="{FF2B5EF4-FFF2-40B4-BE49-F238E27FC236}">
                <a16:creationId xmlns:a16="http://schemas.microsoft.com/office/drawing/2014/main" id="{0BFE34AC-B4EF-5591-D05D-6AC0904A49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5584" y="5580562"/>
            <a:ext cx="628277" cy="104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CFE48-8EDD-55A1-CB12-7801E7E2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i="1" dirty="0"/>
              <a:t>Descripción de la Organización en Estudio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7950BE-8473-4F44-2431-60D8CF3EE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>
            <a:normAutofit fontScale="55000" lnSpcReduction="20000"/>
          </a:bodyPr>
          <a:lstStyle/>
          <a:p>
            <a: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  <a:t>La Bodega Byte es un pequeño negocio familiar dedicado a la venta de productos de consumo diario, como abarrotes, bebidas, golosinas y artículos de limpieza.</a:t>
            </a:r>
            <a:b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  <a:t>Está ubicada en el distrito de San Martín de Porres, Lima – Perú.</a:t>
            </a:r>
          </a:p>
          <a:p>
            <a: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  <a:t>Actualmente, la bodega gestiona sus operaciones de manera manual, utilizando cuadernos para el registro de ventas, control de stock y pedidos a proveedores. Esto genera retrasos, errores en los cálculos y una falta de control exacto del inventario.</a:t>
            </a:r>
          </a:p>
          <a:p>
            <a: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  <a:t>La empresa cuenta con tres personas que se encargan de la atención al público, el registro de ventas y la reposición de productos.</a:t>
            </a:r>
          </a:p>
          <a:p>
            <a: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  <a:t>Debido al aumento de la demanda y la necesidad de mejorar su organización, surge la propuesta de desarrollar un Sistema de Gestión para Bodega Byte, que permita automatizar procesos y optimizar el control de las operaciones.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 descr="Imagen que contiene Icono&#10;&#10;Descripción generada automáticamente">
            <a:extLst>
              <a:ext uri="{FF2B5EF4-FFF2-40B4-BE49-F238E27FC236}">
                <a16:creationId xmlns:a16="http://schemas.microsoft.com/office/drawing/2014/main" id="{17D355E8-D10B-40B8-9F15-67E46E6B9A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927" y="5641675"/>
            <a:ext cx="547070" cy="9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888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E1A4A-DBC8-1BB3-836B-00DD7D11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568" y="0"/>
            <a:ext cx="9296549" cy="1478570"/>
          </a:xfrm>
        </p:spPr>
        <p:txBody>
          <a:bodyPr/>
          <a:lstStyle/>
          <a:p>
            <a:pPr algn="ctr"/>
            <a:r>
              <a:rPr lang="es-ES" dirty="0"/>
              <a:t>SISTEMA COMPLETO DE CONTROL, ATENCION Y SEGURIDAD</a:t>
            </a:r>
            <a:endParaRPr lang="es-PE" dirty="0"/>
          </a:p>
        </p:txBody>
      </p:sp>
      <p:pic>
        <p:nvPicPr>
          <p:cNvPr id="4" name="Imagen 3" descr="Imagen que contiene Icono&#10;&#10;Descripción generada automáticamente">
            <a:extLst>
              <a:ext uri="{FF2B5EF4-FFF2-40B4-BE49-F238E27FC236}">
                <a16:creationId xmlns:a16="http://schemas.microsoft.com/office/drawing/2014/main" id="{3D064AAF-E4A1-3816-F724-5BC84D0218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300" y="5607170"/>
            <a:ext cx="547070" cy="905661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D9A0CA9-64E9-1A65-138E-9B043829707D}"/>
              </a:ext>
            </a:extLst>
          </p:cNvPr>
          <p:cNvSpPr/>
          <p:nvPr/>
        </p:nvSpPr>
        <p:spPr>
          <a:xfrm>
            <a:off x="240145" y="1478570"/>
            <a:ext cx="2008547" cy="4911652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SISTEMA ADMINISTRATIVO</a:t>
            </a:r>
            <a:r>
              <a:rPr lang="es-PE" dirty="0"/>
              <a:t> FUNCIONAL Y TOTALMENTE OPERATIVO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C2D6A01-4D7B-C9A8-EDF0-BE47B360B723}"/>
              </a:ext>
            </a:extLst>
          </p:cNvPr>
          <p:cNvSpPr/>
          <p:nvPr/>
        </p:nvSpPr>
        <p:spPr>
          <a:xfrm>
            <a:off x="2388278" y="1999422"/>
            <a:ext cx="2170563" cy="92532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/>
              <a:t>FUNCIONALIDADES ESENCIALES Y SOPORTE INICIAL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1EC662C-3AD6-80E9-5A48-CCA0639F8F41}"/>
              </a:ext>
            </a:extLst>
          </p:cNvPr>
          <p:cNvSpPr/>
          <p:nvPr/>
        </p:nvSpPr>
        <p:spPr>
          <a:xfrm>
            <a:off x="2656980" y="5064573"/>
            <a:ext cx="1633158" cy="79596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/>
              <a:t>ALERTAS Y SEGURIDAD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0D23B6E-A23F-786F-FD15-D8B970D990E2}"/>
              </a:ext>
            </a:extLst>
          </p:cNvPr>
          <p:cNvSpPr/>
          <p:nvPr/>
        </p:nvSpPr>
        <p:spPr>
          <a:xfrm>
            <a:off x="4807973" y="1256897"/>
            <a:ext cx="6223820" cy="3093429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MX" sz="1200" b="1" dirty="0"/>
              <a:t>Como administrador quiero iniciar sesión con usuario y contraseña encriptado mediante el método SHA para proteger la información del sistema.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200" b="1" dirty="0"/>
              <a:t>Como administrador quiero registrar los intentos de inicio de sesión para detectar accesos no autorizados.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200" b="1" dirty="0"/>
              <a:t>Como cliente quiero dejar comentarios y sugerencias sobre el servicio como </a:t>
            </a:r>
            <a:r>
              <a:rPr lang="es-MX" sz="1200" b="1" dirty="0" err="1"/>
              <a:t>feedback</a:t>
            </a:r>
            <a:r>
              <a:rPr lang="es-MX" sz="1200" b="1" dirty="0"/>
              <a:t> para mejorar la atención.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200" b="1" dirty="0"/>
              <a:t> Como cliente quiero poder chatear directamente con el servicio de soporte para resolver dudas de manera rápida.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200" b="1" dirty="0"/>
              <a:t>Como cliente quiero ver un manual de usuario (PDF o video) de cómo usar la app de pedidos para entender su funcionamiento desde el inicio.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200" b="1" dirty="0"/>
              <a:t>Como cliente quiero consultar el catálogo digital desde la PC de escritorio para visualizar los productos de forma rápida y cómoda.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200" b="1" dirty="0"/>
              <a:t>Como cliente quiero recibir comprobante digital de mi compra mediante mensaje de texto o correo para tener un registro seguro de lo que adquirí.</a:t>
            </a:r>
          </a:p>
          <a:p>
            <a:pPr marL="228600" indent="-228600">
              <a:buFont typeface="+mj-lt"/>
              <a:buAutoNum type="arabicPeriod"/>
            </a:pPr>
            <a:endParaRPr lang="es-PE" sz="1200" b="1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91DA405-6EB8-A7A1-2827-6E02E118618F}"/>
              </a:ext>
            </a:extLst>
          </p:cNvPr>
          <p:cNvSpPr/>
          <p:nvPr/>
        </p:nvSpPr>
        <p:spPr>
          <a:xfrm>
            <a:off x="4789954" y="4672259"/>
            <a:ext cx="6223820" cy="1717963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200" b="1" dirty="0"/>
              <a:t>   8.	Como cliente quiero que el sistema me alerte cuando se ingrese una información     	incorrecta para corregirlo.</a:t>
            </a:r>
          </a:p>
          <a:p>
            <a:r>
              <a:rPr lang="es-MX" sz="1200" b="1" dirty="0"/>
              <a:t>   9. 	Como administrador quiero acceder a todas las funciones del sistema desde una PC 	de escritorio para tener control total de la información.</a:t>
            </a:r>
          </a:p>
          <a:p>
            <a:r>
              <a:rPr lang="es-MX" sz="1200" b="1" dirty="0"/>
              <a:t>   10.	Como cliente quiero agregar productos a un carrito de compras digital para 	visualizar, modificar cantidades y confirmar mis pedidos de forma rápida y              	ordenada.</a:t>
            </a:r>
          </a:p>
          <a:p>
            <a:pPr algn="ctr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662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2517F-8BA6-F812-63BA-2A15D7EE6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i="1" dirty="0">
                <a:cs typeface="Times New Roman" panose="02020603050405020304" pitchFamily="18" charset="0"/>
              </a:rPr>
              <a:t>Objetivo del Sprint 1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B3C5DC-3486-FECC-F6E5-5E7BFC43D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Establecer una plataforma integral que garantice la seguridad operativa mediante la implementación de un acceso administrativo robusto (cifrado SHA y monitoreo de intentos), y que simultáneamente maximice la satisfacción y confianza del cliente al ofrecer soporte inmediato (chat), canales de </a:t>
            </a:r>
            <a:r>
              <a:rPr lang="es-MX" i="1" dirty="0" err="1"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recursos de autoayuda (manuales) y una experiencia de compra transparente con registro digital de transacciones.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 descr="Imagen que contiene Icono&#10;&#10;Descripción generada automáticamente">
            <a:extLst>
              <a:ext uri="{FF2B5EF4-FFF2-40B4-BE49-F238E27FC236}">
                <a16:creationId xmlns:a16="http://schemas.microsoft.com/office/drawing/2014/main" id="{06DEB3A0-772B-3EB8-ABCE-187207B4D1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300" y="5607170"/>
            <a:ext cx="547070" cy="9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06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EC586-6B59-8F2D-69E4-005541DB4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i="1" dirty="0">
                <a:cs typeface="Times New Roman" panose="02020603050405020304" pitchFamily="18" charset="0"/>
              </a:rPr>
              <a:t>Objetivo del Sprint 2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1C521F-A188-EBFF-BADE-D33DE4AD0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Implementar funcionalidades clave para mejorar la experiencia del cliente y del administrador, incluyendo alertas de validación, acceso completo al sistema desde PC y el módulo del carrito de compras digital. Además, integrar pantallas y validaciones que aseguren un flujo correcto dentro del sistema.</a:t>
            </a:r>
            <a:endParaRPr lang="es-P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 descr="Imagen que contiene Icono&#10;&#10;Descripción generada automáticamente">
            <a:extLst>
              <a:ext uri="{FF2B5EF4-FFF2-40B4-BE49-F238E27FC236}">
                <a16:creationId xmlns:a16="http://schemas.microsoft.com/office/drawing/2014/main" id="{DD052213-BEB9-B6EA-06E0-A809AF38AE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300" y="5607170"/>
            <a:ext cx="547070" cy="9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478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44D0C59-D547-535A-2597-D048D4E02ED4}"/>
              </a:ext>
            </a:extLst>
          </p:cNvPr>
          <p:cNvSpPr/>
          <p:nvPr/>
        </p:nvSpPr>
        <p:spPr>
          <a:xfrm>
            <a:off x="780530" y="1620334"/>
            <a:ext cx="2082743" cy="361732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GESTION DE COMUNICACIÓN Y SOPORTE AL CLIENTE</a:t>
            </a: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9DB19F0-A3A4-F950-AECD-303130ABA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5095" y="2986483"/>
            <a:ext cx="1990381" cy="88503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indent="0" algn="ctr">
              <a:buNone/>
            </a:pPr>
            <a:r>
              <a:rPr lang="es-PE" sz="1200" b="1" dirty="0"/>
              <a:t>COMUNICACIÓN Y EXPERIENCIA DEL CLIENTE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A93B96C-CCF3-1566-F8B1-B260E897840C}"/>
              </a:ext>
            </a:extLst>
          </p:cNvPr>
          <p:cNvSpPr/>
          <p:nvPr/>
        </p:nvSpPr>
        <p:spPr>
          <a:xfrm>
            <a:off x="5637298" y="2294928"/>
            <a:ext cx="6223820" cy="2268143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200" b="1" dirty="0"/>
              <a:t>   </a:t>
            </a:r>
          </a:p>
          <a:p>
            <a:r>
              <a:rPr lang="es-MX" sz="1200" b="1" dirty="0"/>
              <a:t>  </a:t>
            </a:r>
          </a:p>
          <a:p>
            <a:r>
              <a:rPr lang="es-MX" sz="1200" b="1" dirty="0"/>
              <a:t> 11.	Como administrador quiero que se deshabiliten los productos agotados o vencidos 	para evitar inconvenientes en el proceso de compra del cliente.</a:t>
            </a:r>
          </a:p>
          <a:p>
            <a:endParaRPr lang="es-MX" sz="1200" b="1" dirty="0"/>
          </a:p>
          <a:p>
            <a:r>
              <a:rPr lang="es-MX" sz="1200" b="1" dirty="0"/>
              <a:t>   12. 	Como administrador quiero registrar productos para llevar el control de stock.</a:t>
            </a:r>
          </a:p>
          <a:p>
            <a:endParaRPr lang="es-MX" sz="1200" b="1" dirty="0"/>
          </a:p>
          <a:p>
            <a:r>
              <a:rPr lang="es-MX" sz="1200" b="1" dirty="0"/>
              <a:t>   13.	Como administrador quiero recibir alertas cuando un producto llegue a stock 	mínimo para reponerlo a tiempo.</a:t>
            </a:r>
          </a:p>
          <a:p>
            <a:endParaRPr lang="es-MX" sz="1200" b="1" dirty="0"/>
          </a:p>
          <a:p>
            <a:r>
              <a:rPr lang="es-MX" sz="1200" b="1" dirty="0"/>
              <a:t>   14. 	Como administrador quiero generar reporte de ventas para llevar un control de los 	Ingresos.</a:t>
            </a:r>
          </a:p>
          <a:p>
            <a:endParaRPr lang="es-MX" sz="1200" b="1" dirty="0"/>
          </a:p>
          <a:p>
            <a:pPr algn="ctr"/>
            <a:endParaRPr lang="es-PE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E28BAAF-F6E8-8A72-3BD4-0F011E3C2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792" y="312703"/>
            <a:ext cx="11029616" cy="651205"/>
          </a:xfrm>
        </p:spPr>
        <p:txBody>
          <a:bodyPr rtlCol="0" anchor="b">
            <a:normAutofit/>
          </a:bodyPr>
          <a:lstStyle/>
          <a:p>
            <a:pPr algn="ctr"/>
            <a:r>
              <a:rPr lang="es-MX" dirty="0"/>
              <a:t>GESTION DE COMUNICACIÓN Y SOPORTE AL CLIENTE</a:t>
            </a:r>
            <a:endParaRPr lang="es-PE" dirty="0"/>
          </a:p>
        </p:txBody>
      </p:sp>
      <p:pic>
        <p:nvPicPr>
          <p:cNvPr id="8" name="Imagen 7" descr="Imagen que contiene Icono&#10;&#10;Descripción generada automáticamente">
            <a:extLst>
              <a:ext uri="{FF2B5EF4-FFF2-40B4-BE49-F238E27FC236}">
                <a16:creationId xmlns:a16="http://schemas.microsoft.com/office/drawing/2014/main" id="{25827F80-0B26-8D73-DEAF-119D0DF1DA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300" y="5607170"/>
            <a:ext cx="547070" cy="9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079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70909-FA91-A372-5E48-09A011329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i="1" dirty="0">
                <a:cs typeface="Times New Roman" panose="02020603050405020304" pitchFamily="18" charset="0"/>
              </a:rPr>
              <a:t>Objetivo del Sprint 3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8D71C1-83A5-4712-A9A4-E9E5514B6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Implementar un sistema de gestión de </a:t>
            </a:r>
            <a:r>
              <a:rPr lang="es-MX" i="1" dirty="0">
                <a:latin typeface="Arial" panose="020B0604020202020204" pitchFamily="34" charset="0"/>
                <a:cs typeface="Arial" panose="020B0604020202020204" pitchFamily="34" charset="0"/>
              </a:rPr>
              <a:t>stock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y ventas que garantice la precisión del inventario en tiempo real, mediante el registro detallado de productos, la deshabilitación automática de artículos agotados o vencidos para asegurar una experiencia de compra fluida al cliente.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 descr="Imagen que contiene Icono&#10;&#10;Descripción generada automáticamente">
            <a:extLst>
              <a:ext uri="{FF2B5EF4-FFF2-40B4-BE49-F238E27FC236}">
                <a16:creationId xmlns:a16="http://schemas.microsoft.com/office/drawing/2014/main" id="{78F935BC-519E-C1DF-10E3-B379CA5A42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300" y="5607170"/>
            <a:ext cx="547070" cy="9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52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E9B67-D142-3C9C-A210-19CD5FC54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93516"/>
            <a:ext cx="7423038" cy="1133009"/>
          </a:xfrm>
        </p:spPr>
        <p:txBody>
          <a:bodyPr/>
          <a:lstStyle/>
          <a:p>
            <a:r>
              <a:rPr lang="es-PE" dirty="0"/>
              <a:t>INGRESO AL SISTEMA BODEGA BYTE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A668731-3F82-A361-22C4-D697250C5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344" y="1761081"/>
            <a:ext cx="5331357" cy="421796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CC3ECB7-3740-51AE-54DC-2199DD3B4896}"/>
              </a:ext>
            </a:extLst>
          </p:cNvPr>
          <p:cNvSpPr txBox="1"/>
          <p:nvPr/>
        </p:nvSpPr>
        <p:spPr>
          <a:xfrm>
            <a:off x="7701565" y="2189406"/>
            <a:ext cx="39666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80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Este módulo sirve para que el administrador pueda ingresar de manera segura con su correo y contraseña en los campos correspondientes.</a:t>
            </a:r>
          </a:p>
          <a:p>
            <a:endParaRPr lang="es-PE" sz="1800" dirty="0"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s-PE" sz="180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El sistema valida la información y permite el acceso al menú principal según el rol asignado.</a:t>
            </a:r>
          </a:p>
          <a:p>
            <a:r>
              <a:rPr lang="es-PE" sz="180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 el ingreso falla, el intento se registra para monitorear accesos no autorizados.</a:t>
            </a:r>
          </a:p>
          <a:p>
            <a:endParaRPr lang="es-PE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B1D6451-2466-50A9-E674-34FF7AA707ED}"/>
              </a:ext>
            </a:extLst>
          </p:cNvPr>
          <p:cNvSpPr txBox="1"/>
          <p:nvPr/>
        </p:nvSpPr>
        <p:spPr>
          <a:xfrm>
            <a:off x="7701565" y="1761081"/>
            <a:ext cx="3954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800" b="1" i="1" u="sng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Descripción del módulo e interfaz:</a:t>
            </a:r>
          </a:p>
          <a:p>
            <a:endParaRPr lang="es-PE" dirty="0"/>
          </a:p>
        </p:txBody>
      </p:sp>
      <p:pic>
        <p:nvPicPr>
          <p:cNvPr id="7" name="Imagen 6" descr="Imagen que contiene Icono&#10;&#10;Descripción generada automáticamente">
            <a:extLst>
              <a:ext uri="{FF2B5EF4-FFF2-40B4-BE49-F238E27FC236}">
                <a16:creationId xmlns:a16="http://schemas.microsoft.com/office/drawing/2014/main" id="{BCBD4DA2-B5C6-D313-9E5C-2060F50786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300" y="5607170"/>
            <a:ext cx="547070" cy="9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07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59071-A1E2-3326-9449-121C99F29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Programación de acceso</a:t>
            </a:r>
          </a:p>
        </p:txBody>
      </p:sp>
      <p:sp>
        <p:nvSpPr>
          <p:cNvPr id="4" name="Cuadro de texto 55">
            <a:extLst>
              <a:ext uri="{FF2B5EF4-FFF2-40B4-BE49-F238E27FC236}">
                <a16:creationId xmlns:a16="http://schemas.microsoft.com/office/drawing/2014/main" id="{AEDBB934-9D95-EA4C-7E3A-0FDDF0ADAF44}"/>
              </a:ext>
            </a:extLst>
          </p:cNvPr>
          <p:cNvSpPr txBox="1"/>
          <p:nvPr/>
        </p:nvSpPr>
        <p:spPr>
          <a:xfrm>
            <a:off x="2178842" y="2097088"/>
            <a:ext cx="7831138" cy="386238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===================== LOGIN =====================</a:t>
            </a:r>
          </a:p>
          <a:p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validar_login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self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</a:p>
          <a:p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usuario = 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self.login.txtUsuario.text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</a:p>
          <a:p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contrasena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self.login.txtContrasena.text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</a:p>
          <a:p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hash_contra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encriptar_sha256(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contrasena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sha_valida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encriptar_sha256("1234")</a:t>
            </a:r>
          </a:p>
          <a:p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usuario == "ADMINISTRADOR" and 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hash_contra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== 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sha_valida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QMessageBox.information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self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"Acceso permitido", "Bienvenido al sistema, Administrador.")</a:t>
            </a:r>
          </a:p>
          <a:p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self.abrir_menu_sistema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</a:p>
          <a:p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else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QMessageBox.warning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s-PE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self</a:t>
            </a:r>
            <a:r>
              <a: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"Acceso denegado", "Usuario o contraseña incorrectos.")</a:t>
            </a:r>
          </a:p>
        </p:txBody>
      </p:sp>
      <p:pic>
        <p:nvPicPr>
          <p:cNvPr id="5" name="Imagen 4" descr="Imagen que contiene Icono&#10;&#10;Descripción generada automáticamente">
            <a:extLst>
              <a:ext uri="{FF2B5EF4-FFF2-40B4-BE49-F238E27FC236}">
                <a16:creationId xmlns:a16="http://schemas.microsoft.com/office/drawing/2014/main" id="{D339C852-CF8C-2DAD-8303-782BBCF5DF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300" y="5607170"/>
            <a:ext cx="547070" cy="9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03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12AAB-64E2-A1D4-BCEB-358501557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INGRESO AL MENU DE BODEGA BYTE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1B7C26B-03AA-90A4-CE03-B374EC9E8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1889384"/>
            <a:ext cx="6059884" cy="449853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04738A8-3124-32FC-C7CB-615D5E4D323B}"/>
              </a:ext>
            </a:extLst>
          </p:cNvPr>
          <p:cNvSpPr txBox="1"/>
          <p:nvPr/>
        </p:nvSpPr>
        <p:spPr>
          <a:xfrm>
            <a:off x="7325973" y="2753014"/>
            <a:ext cx="37992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Actuar como el centro de control centralizado para el administrador. Su propósito es ofrecer un acceso rápido y organizado a todas las funciones clave del sistema de gestión de la tienda de abarrotes BODEGA BYTE. Este módulo es el punto de partida para tareas operativas, de inventario, financieras y de consulta de datos.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71ADDE0-69C0-07EC-BEA9-FC00CE04D904}"/>
              </a:ext>
            </a:extLst>
          </p:cNvPr>
          <p:cNvSpPr txBox="1"/>
          <p:nvPr/>
        </p:nvSpPr>
        <p:spPr>
          <a:xfrm>
            <a:off x="7248143" y="1889384"/>
            <a:ext cx="4370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i="1" u="sng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Descripción del módulo e interfaz:</a:t>
            </a:r>
          </a:p>
          <a:p>
            <a:endParaRPr lang="es-PE" sz="2000" dirty="0"/>
          </a:p>
        </p:txBody>
      </p:sp>
      <p:pic>
        <p:nvPicPr>
          <p:cNvPr id="9" name="Imagen 8" descr="Imagen que contiene Icono&#10;&#10;Descripción generada automáticamente">
            <a:extLst>
              <a:ext uri="{FF2B5EF4-FFF2-40B4-BE49-F238E27FC236}">
                <a16:creationId xmlns:a16="http://schemas.microsoft.com/office/drawing/2014/main" id="{1A033B99-8AA6-0043-FB49-B198EE3970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300" y="5607170"/>
            <a:ext cx="547070" cy="9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02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997B0-9078-736D-257B-99CB6F036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60" y="25758"/>
            <a:ext cx="6096851" cy="1262130"/>
          </a:xfrm>
        </p:spPr>
        <p:txBody>
          <a:bodyPr/>
          <a:lstStyle/>
          <a:p>
            <a:r>
              <a:rPr lang="es-PE" dirty="0"/>
              <a:t>Programación de acceso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63D29A3-4C49-9557-3E31-60CF7C5AF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7" y="1287888"/>
            <a:ext cx="5777895" cy="263074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9FC1579-491C-FFC7-D742-938EC3A3E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289" y="656823"/>
            <a:ext cx="6096851" cy="6030167"/>
          </a:xfrm>
          <a:prstGeom prst="rect">
            <a:avLst/>
          </a:prstGeom>
        </p:spPr>
      </p:pic>
      <p:pic>
        <p:nvPicPr>
          <p:cNvPr id="12" name="Imagen 11" descr="Imagen que contiene Icono&#10;&#10;Descripción generada automáticamente">
            <a:extLst>
              <a:ext uri="{FF2B5EF4-FFF2-40B4-BE49-F238E27FC236}">
                <a16:creationId xmlns:a16="http://schemas.microsoft.com/office/drawing/2014/main" id="{8792ACEE-3DC4-D2D5-8EF8-6338719654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300" y="5607170"/>
            <a:ext cx="547070" cy="9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180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2A970-6649-563F-772E-705B563A4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5207871" cy="1478570"/>
          </a:xfrm>
        </p:spPr>
        <p:txBody>
          <a:bodyPr/>
          <a:lstStyle/>
          <a:p>
            <a:r>
              <a:rPr lang="es-PE" dirty="0"/>
              <a:t>INGRESO AL inventario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9891DEB-4C6A-1F23-568E-E0FA6FD9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284" y="2249487"/>
            <a:ext cx="5213282" cy="4675031"/>
          </a:xfrm>
        </p:spPr>
        <p:txBody>
          <a:bodyPr/>
          <a:lstStyle/>
          <a:p>
            <a:pPr algn="just"/>
            <a:r>
              <a:rPr lang="es-PE" sz="180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El módulo de inventario permite acceder a dos funciones principales.</a:t>
            </a:r>
          </a:p>
          <a:p>
            <a:pPr algn="just"/>
            <a:r>
              <a:rPr lang="es-PE" sz="180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Registro de Inventario: donde se registran las salidas o entradas de productos.</a:t>
            </a:r>
          </a:p>
          <a:p>
            <a:pPr algn="just"/>
            <a:r>
              <a:rPr lang="es-PE" sz="180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Lista de Inventario: donde se visualizan los productos, su stock actual, mínimos y alertas.</a:t>
            </a:r>
          </a:p>
          <a:p>
            <a:pPr algn="just"/>
            <a:r>
              <a:rPr lang="es-PE" sz="180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El menú ofrece un entorno simple para navegar entre ambas funciones, permitiendo mantener un control rápido y ordenado del stock general de la tienda.</a:t>
            </a:r>
          </a:p>
          <a:p>
            <a:endParaRPr lang="es-P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FDAD1B8-2A03-1FEE-DF20-154FCC4C6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34" y="1847875"/>
            <a:ext cx="5398938" cy="423510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B55ED67-EC2D-36D1-78E2-DD065426B81F}"/>
              </a:ext>
            </a:extLst>
          </p:cNvPr>
          <p:cNvSpPr txBox="1"/>
          <p:nvPr/>
        </p:nvSpPr>
        <p:spPr>
          <a:xfrm>
            <a:off x="6349284" y="1819345"/>
            <a:ext cx="4370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i="1" u="sng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Descripción del módulo e interfaz:</a:t>
            </a:r>
          </a:p>
          <a:p>
            <a:endParaRPr lang="es-PE" sz="2000" dirty="0"/>
          </a:p>
        </p:txBody>
      </p:sp>
      <p:pic>
        <p:nvPicPr>
          <p:cNvPr id="9" name="Imagen 8" descr="Imagen que contiene Icono&#10;&#10;Descripción generada automáticamente">
            <a:extLst>
              <a:ext uri="{FF2B5EF4-FFF2-40B4-BE49-F238E27FC236}">
                <a16:creationId xmlns:a16="http://schemas.microsoft.com/office/drawing/2014/main" id="{BDA5D258-650A-C35E-6502-76DC2C2EAC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300" y="5607170"/>
            <a:ext cx="547070" cy="9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35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B6A4D-32C8-3674-9905-6855BF8B2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5233629" cy="823916"/>
          </a:xfrm>
        </p:spPr>
        <p:txBody>
          <a:bodyPr/>
          <a:lstStyle/>
          <a:p>
            <a:r>
              <a:rPr lang="es-PE" dirty="0"/>
              <a:t>INGRESO AL inventario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2ECA43-F4FE-B719-BC3E-0FEA5140C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962" y="1850657"/>
            <a:ext cx="4652869" cy="4388825"/>
          </a:xfrm>
          <a:prstGeom prst="rect">
            <a:avLst/>
          </a:prstGeom>
        </p:spPr>
      </p:pic>
      <p:pic>
        <p:nvPicPr>
          <p:cNvPr id="6" name="Imagen 5" descr="Imagen que contiene Icono&#10;&#10;Descripción generada automáticamente">
            <a:extLst>
              <a:ext uri="{FF2B5EF4-FFF2-40B4-BE49-F238E27FC236}">
                <a16:creationId xmlns:a16="http://schemas.microsoft.com/office/drawing/2014/main" id="{606EE616-EFD3-16C2-E966-0103D59CBA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300" y="5607170"/>
            <a:ext cx="547070" cy="90566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1E48F61-3A20-4357-B248-22F616556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337" y="1898406"/>
            <a:ext cx="5751702" cy="400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379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44C99-DB3A-70FB-9078-F9BC2F0C1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Programación de acceso</a:t>
            </a:r>
          </a:p>
        </p:txBody>
      </p:sp>
      <p:sp>
        <p:nvSpPr>
          <p:cNvPr id="4" name="Cuadro de texto 60">
            <a:extLst>
              <a:ext uri="{FF2B5EF4-FFF2-40B4-BE49-F238E27FC236}">
                <a16:creationId xmlns:a16="http://schemas.microsoft.com/office/drawing/2014/main" id="{FCD0D8E5-1681-995C-8456-823C13BFFC7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PE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----------------- LISTA DE INVENTARIO -----------------</a:t>
            </a:r>
          </a:p>
          <a:p>
            <a:r>
              <a:rPr lang="es-PE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def abrir_lista_inventario(self):</a:t>
            </a:r>
          </a:p>
          <a:p>
            <a:r>
              <a:rPr lang="es-PE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self.lista_inventario = uic.loadUi("Ui/LISTA_INVENTARIO.ui")</a:t>
            </a:r>
          </a:p>
          <a:p>
            <a:r>
              <a:rPr lang="es-PE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self.lista_inventario.show()</a:t>
            </a:r>
          </a:p>
          <a:p>
            <a:r>
              <a:rPr lang="es-PE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self.inventario.close()</a:t>
            </a:r>
          </a:p>
          <a:p>
            <a:r>
              <a:rPr lang="es-PE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self.lista_inventario.btnRegresarLista.clicked.connect(self.regresar_inventario_desde_lista)</a:t>
            </a:r>
          </a:p>
          <a:p>
            <a:r>
              <a:rPr lang="es-PE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s-PE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def regresar_inventario_desde_lista(self):</a:t>
            </a:r>
          </a:p>
          <a:p>
            <a:r>
              <a:rPr lang="es-PE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self.lista_inventario.close()</a:t>
            </a:r>
          </a:p>
          <a:p>
            <a:r>
              <a:rPr lang="es-PE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self.abrir_inventario()</a:t>
            </a:r>
          </a:p>
        </p:txBody>
      </p:sp>
      <p:pic>
        <p:nvPicPr>
          <p:cNvPr id="5" name="Imagen 4" descr="Imagen que contiene Icono&#10;&#10;Descripción generada automáticamente">
            <a:extLst>
              <a:ext uri="{FF2B5EF4-FFF2-40B4-BE49-F238E27FC236}">
                <a16:creationId xmlns:a16="http://schemas.microsoft.com/office/drawing/2014/main" id="{05FE7D4C-473D-356E-3495-94A8739B68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300" y="5607170"/>
            <a:ext cx="547070" cy="9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22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C1A77-026B-F1A2-E05B-8BD122730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534" y="232152"/>
            <a:ext cx="7461674" cy="811037"/>
          </a:xfrm>
        </p:spPr>
        <p:txBody>
          <a:bodyPr/>
          <a:lstStyle/>
          <a:p>
            <a:r>
              <a:rPr lang="es-PE" dirty="0"/>
              <a:t>INGRESO AL COMPROBANTE DIGITAL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0BBBF1-F483-566B-BD5B-CD895ACA4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7876" y="2414931"/>
            <a:ext cx="5349535" cy="2981318"/>
          </a:xfrm>
        </p:spPr>
        <p:txBody>
          <a:bodyPr/>
          <a:lstStyle/>
          <a:p>
            <a:r>
              <a:rPr lang="es-MX" dirty="0"/>
              <a:t>la interfaz cumple con los estándares de un comprobante legal, garantizando que tanto el desglose del producto como el cálculo fiscal (IGV) y la información de la transacción queden registrados de manera precisa.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1C94D5B-7471-D959-DA7B-985027329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589" y="1217194"/>
            <a:ext cx="4108969" cy="470554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7A7971A-816B-A913-DE0B-3A50BE59A2BE}"/>
              </a:ext>
            </a:extLst>
          </p:cNvPr>
          <p:cNvSpPr txBox="1"/>
          <p:nvPr/>
        </p:nvSpPr>
        <p:spPr>
          <a:xfrm>
            <a:off x="5898523" y="1461751"/>
            <a:ext cx="4370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i="1" u="sng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Descripción del módulo e interfaz:</a:t>
            </a:r>
          </a:p>
          <a:p>
            <a:endParaRPr lang="es-PE" sz="2000" dirty="0"/>
          </a:p>
        </p:txBody>
      </p:sp>
      <p:pic>
        <p:nvPicPr>
          <p:cNvPr id="7" name="Imagen 6" descr="Imagen que contiene Icono&#10;&#10;Descripción generada automáticamente">
            <a:extLst>
              <a:ext uri="{FF2B5EF4-FFF2-40B4-BE49-F238E27FC236}">
                <a16:creationId xmlns:a16="http://schemas.microsoft.com/office/drawing/2014/main" id="{E59FAE34-3543-C92E-EF91-E3B8A2FB79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300" y="5607170"/>
            <a:ext cx="547070" cy="9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89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0DD72-F454-50D6-145F-4621AAB11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71" y="2406533"/>
            <a:ext cx="7577584" cy="1478570"/>
          </a:xfrm>
        </p:spPr>
        <p:txBody>
          <a:bodyPr/>
          <a:lstStyle/>
          <a:p>
            <a:r>
              <a:rPr lang="es-PE" dirty="0"/>
              <a:t>Programación de acceso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4F31028-FF45-BCB1-8C23-16C6C900A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522" y="0"/>
            <a:ext cx="5738478" cy="6858000"/>
          </a:xfrm>
          <a:prstGeom prst="rect">
            <a:avLst/>
          </a:prstGeom>
        </p:spPr>
      </p:pic>
      <p:pic>
        <p:nvPicPr>
          <p:cNvPr id="10" name="Imagen 9" descr="Imagen que contiene Icono&#10;&#10;Descripción generada automáticamente">
            <a:extLst>
              <a:ext uri="{FF2B5EF4-FFF2-40B4-BE49-F238E27FC236}">
                <a16:creationId xmlns:a16="http://schemas.microsoft.com/office/drawing/2014/main" id="{DB533CAC-C2D8-55E0-40AA-D83E3BFE17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300" y="5607170"/>
            <a:ext cx="547070" cy="9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28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19301-B7CA-DA6E-6FD9-98871FBAA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Gestión de clientes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3B266C-B23A-34CA-A31D-0433A2AFE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3081" y="2249487"/>
            <a:ext cx="3551907" cy="3541714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b="1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Este módulo sirve para que el Administrador puede buscar y agregar nuevos clientes con nombre, DNI, dirección, correo y teléfono.</a:t>
            </a:r>
            <a:endParaRPr lang="es-PE" sz="1800" dirty="0"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s-PE" sz="1800" b="1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pueden modificar o eliminar registros</a:t>
            </a:r>
            <a:endParaRPr lang="es-PE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A17EA68-4154-B4FD-44C0-566DA625C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98" y="1725769"/>
            <a:ext cx="7082991" cy="406543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39E7DDF-E09F-54C7-F41D-DA08FE27E4A5}"/>
              </a:ext>
            </a:extLst>
          </p:cNvPr>
          <p:cNvSpPr txBox="1"/>
          <p:nvPr/>
        </p:nvSpPr>
        <p:spPr>
          <a:xfrm>
            <a:off x="7588679" y="1541601"/>
            <a:ext cx="4370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i="1" u="sng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Descripción del módulo e interfaz: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3512522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C92D92-15F7-2809-8574-4BD1E0B44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42" y="1500698"/>
            <a:ext cx="5525271" cy="517279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A35AEBC-C42B-2A70-4265-165330FDF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165" y="1148225"/>
            <a:ext cx="5525270" cy="552527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8EC5CDAA-ABE1-E82F-051C-BE31E5C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142" y="184505"/>
            <a:ext cx="7577584" cy="1478570"/>
          </a:xfrm>
        </p:spPr>
        <p:txBody>
          <a:bodyPr/>
          <a:lstStyle/>
          <a:p>
            <a:r>
              <a:rPr lang="es-PE" dirty="0"/>
              <a:t>Programación de acceso</a:t>
            </a:r>
          </a:p>
        </p:txBody>
      </p:sp>
    </p:spTree>
    <p:extLst>
      <p:ext uri="{BB962C8B-B14F-4D97-AF65-F5344CB8AC3E}">
        <p14:creationId xmlns:p14="http://schemas.microsoft.com/office/powerpoint/2010/main" val="3248437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573CB7-5024-94F7-045D-4B19424EA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472" y="219502"/>
            <a:ext cx="4954587" cy="1478570"/>
          </a:xfrm>
        </p:spPr>
        <p:txBody>
          <a:bodyPr/>
          <a:lstStyle/>
          <a:p>
            <a:r>
              <a:rPr lang="es-PE" dirty="0"/>
              <a:t>CARRITO DE COMPRAS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D81B00-AF2E-91BF-B3D2-F616BE672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284" y="1927515"/>
            <a:ext cx="4839794" cy="418995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s-PE" sz="1800" b="1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Este módulo sirve para que cliente o el sistema muestra un catálogo visual de productos con su imagen referencial, nombre y precio unitario.</a:t>
            </a:r>
            <a:endParaRPr lang="es-PE" sz="1800" dirty="0"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PE" sz="1800" b="1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El usuario selecciona la cantidad deseada mediante controles numéricos y utiliza el botón "Agregar" para llevar los productos a la lista de pedido.</a:t>
            </a:r>
            <a:endParaRPr lang="es-PE" sz="1800" dirty="0"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PE" sz="1800" b="1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visualiza una tabla resumen (detalle de venta) que calcula en tiempo real el Precio Unitario, Cantidad, </a:t>
            </a:r>
            <a:r>
              <a:rPr lang="es-PE" sz="1800" b="1" dirty="0" err="1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SubTotal</a:t>
            </a:r>
            <a:r>
              <a:rPr lang="es-PE" sz="1800" b="1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 IGV por ítem.</a:t>
            </a:r>
            <a:endParaRPr lang="es-PE" sz="1800" dirty="0"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PE" sz="1800" b="1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Incluye controles de navegación (paginación) para ver más productos y botones para "Quitar" ítems o "Finalizar compra" para cerrar la transacción.</a:t>
            </a:r>
            <a:endParaRPr lang="es-PE" sz="1800" dirty="0"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s-PE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80BFEB3-BA82-8343-3CD9-4AA305F6B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10" y="1468630"/>
            <a:ext cx="5401310" cy="464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43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F8398-1609-8B71-6BA3-1C0FE39C1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836" y="487582"/>
            <a:ext cx="5941967" cy="579217"/>
          </a:xfrm>
        </p:spPr>
        <p:txBody>
          <a:bodyPr>
            <a:normAutofit fontScale="90000"/>
          </a:bodyPr>
          <a:lstStyle/>
          <a:p>
            <a:r>
              <a:rPr lang="es-PE" dirty="0"/>
              <a:t>Programación de acceso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ABD03D-706B-C8A2-741B-CF4DB7BD5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521" y="1066799"/>
            <a:ext cx="5334744" cy="399153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F519871-81D2-6FCB-2AD0-6A3FD0F78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795" y="0"/>
            <a:ext cx="43463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731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A9E45FF-BE85-A28C-26A2-4CF8F2130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00" y="0"/>
            <a:ext cx="4605981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AC76F22-F69B-5514-13A1-292962191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871" y="0"/>
            <a:ext cx="50099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779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A9E13-1BA2-18A7-040B-CF2563A35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Programación de acceso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A39027D-D50F-EF0C-38BF-E0F7E302B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09" y="1752581"/>
            <a:ext cx="5439534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691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EAD0F-77B9-9F86-9640-A5F0B8E64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291" y="335183"/>
            <a:ext cx="3533618" cy="926947"/>
          </a:xfrm>
        </p:spPr>
        <p:txBody>
          <a:bodyPr/>
          <a:lstStyle/>
          <a:p>
            <a:r>
              <a:rPr lang="es-PE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A712D3-FBDF-6F4F-01FF-42AE8A594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763" y="1087932"/>
            <a:ext cx="10869769" cy="4958366"/>
          </a:xfrm>
        </p:spPr>
        <p:txBody>
          <a:bodyPr>
            <a:normAutofit/>
          </a:bodyPr>
          <a:lstStyle/>
          <a:p>
            <a:r>
              <a:rPr lang="es-MX" sz="1800" b="1" u="sng" dirty="0">
                <a:latin typeface="Arial" panose="020B0604020202020204" pitchFamily="34" charset="0"/>
                <a:cs typeface="Arial" panose="020B0604020202020204" pitchFamily="34" charset="0"/>
              </a:rPr>
              <a:t>1. Conclusiones sobre Seguridad y Administración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Riesgo de Seguridad Mitigado: La implementación del cifrado SHA para las credenciales de administrador y el registro de intentos de inicio de sesión establecen una base sólida para proteger la información sensible y permiten la auditoría proactiva contra accesos no autorizados.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Gestión de Inventario Optimizada: El sistema garantiza que el stock esté siempre actualizado mediante el registro de productos y la recepción de alertas de stock mínimo. Esto asegura una disponibilidad constante de productos y minimiza la pérdida de ventas.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Eficiencia en la Venta y la Experiencia: La deshabilitación automática de productos agotados o vencidos elimina los inconvenientes para el cliente en el proceso de compra, lo que reduce la frustración y mejora la reputación de la tienda.</a:t>
            </a:r>
          </a:p>
          <a:p>
            <a:pPr marL="0" indent="0">
              <a:buNone/>
            </a:pPr>
            <a:endParaRPr lang="es-P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044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5BE677-0C5B-FD38-D63D-1FDC69C3D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986" y="1066798"/>
            <a:ext cx="10655637" cy="5172683"/>
          </a:xfrm>
        </p:spPr>
        <p:txBody>
          <a:bodyPr>
            <a:normAutofit/>
          </a:bodyPr>
          <a:lstStyle/>
          <a:p>
            <a:r>
              <a:rPr lang="es-MX" sz="1800" b="1" u="sng" dirty="0">
                <a:latin typeface="Arial" panose="020B0604020202020204" pitchFamily="34" charset="0"/>
                <a:cs typeface="Arial" panose="020B0604020202020204" pitchFamily="34" charset="0"/>
              </a:rPr>
              <a:t>2. Conclusiones sobre la Experiencia y Confianza del Cliente (UX)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Transparencia en la Transacción: La emisión del Comprobante de Pago (Boleta) que detalla el producto, el IGV y el vuelto, cumple con la necesidad del cliente de tener un registro seguro y rastreable de su adquisición.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Adopción de Plataforma Sencilla: Al proveer un manual de usuario (PDF/Video), el sistema facilita que el cliente entienda rápidamente el funcionamiento de la aplicación de pedidos.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Soporte Inmediato y Feedback Valioso: El chat directo con soporte garantiza la resolución rápida de dudas, mientras que la opción de dejar comentarios y sugerencias crea un ciclo de mejora continua basado en la retroalimentación directa del usuario.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Accesibilidad Ampliada: Permitir la consulta del catálogo desde la PC de escritorio ofrece comodidad y versatilidad al cliente, adaptándose a diferentes entornos de compra.</a:t>
            </a:r>
          </a:p>
          <a:p>
            <a:endParaRPr lang="es-PE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472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A1FD6-ABA4-A8A2-ACBA-6B55A1B0E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i="1" u="sng" dirty="0"/>
              <a:t>TRABAJO EN EQUIPO</a:t>
            </a:r>
            <a:br>
              <a:rPr lang="es-PE" b="1" i="1" dirty="0"/>
            </a:br>
            <a:r>
              <a:rPr lang="es-PE" b="1" i="1" dirty="0"/>
              <a:t>(</a:t>
            </a:r>
            <a:r>
              <a:rPr lang="es-PE" sz="3600" b="1" i="1" dirty="0"/>
              <a:t>Evidencia de Trabajo en Equipo)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0D38E3-680D-482D-25A7-A792033E6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1961905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Durante el Proyecto se realizaron múltiples reuniones vía Microsoft Teams y Whatsapp para coordinar avances, revisar errores, definir tareas y verificar funcionalidades del sistema.</a:t>
            </a:r>
          </a:p>
          <a:p>
            <a:pPr marL="0" indent="0">
              <a:buNone/>
            </a:pPr>
            <a:r>
              <a:rPr lang="es-MX" dirty="0"/>
              <a:t>Esto permitió mantener un buena comunicación entre los integrantes del equipo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5BBE06-70B1-8FBD-4D71-FBAB37776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747" y="4493513"/>
            <a:ext cx="1653190" cy="203772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DB8D3EF-E51C-CF6C-28B1-945687CC8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64" y="4493513"/>
            <a:ext cx="1905266" cy="200052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1C6A7A9-E2AB-1EB8-C2A5-3F526813E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873" y="4493513"/>
            <a:ext cx="1905265" cy="203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40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4529F9F-F1CA-E051-E691-97485A711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77" y="347232"/>
            <a:ext cx="9459645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934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456</TotalTime>
  <Words>1716</Words>
  <Application>Microsoft Office PowerPoint</Application>
  <PresentationFormat>Panorámica</PresentationFormat>
  <Paragraphs>118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0" baseType="lpstr">
      <vt:lpstr>Arial</vt:lpstr>
      <vt:lpstr>Times New Roman</vt:lpstr>
      <vt:lpstr>Tw Cen MT</vt:lpstr>
      <vt:lpstr>Circuito</vt:lpstr>
      <vt:lpstr>SOLUCIÓN DE ESCRITORIO PARA LA EMPRESA “BODEGA BYTE</vt:lpstr>
      <vt:lpstr>Descripción de la Organización en Estudio</vt:lpstr>
      <vt:lpstr>SISTEMA COMPLETO DE CONTROL, ATENCION Y SEGURIDAD</vt:lpstr>
      <vt:lpstr>Objetivo del Sprint 1</vt:lpstr>
      <vt:lpstr>Objetivo del Sprint 2</vt:lpstr>
      <vt:lpstr>GESTION DE COMUNICACIÓN Y SOPORTE AL CLIENTE</vt:lpstr>
      <vt:lpstr>Objetivo del Sprint 3</vt:lpstr>
      <vt:lpstr>INGRESO AL SISTEMA BODEGA BYTE</vt:lpstr>
      <vt:lpstr>Programación de acceso</vt:lpstr>
      <vt:lpstr>INGRESO AL MENU DE BODEGA BYTE</vt:lpstr>
      <vt:lpstr>Programación de acceso</vt:lpstr>
      <vt:lpstr>INGRESO AL inventario</vt:lpstr>
      <vt:lpstr>INGRESO AL inventario</vt:lpstr>
      <vt:lpstr>Programación de acceso</vt:lpstr>
      <vt:lpstr>INGRESO AL COMPROBANTE DIGITAL</vt:lpstr>
      <vt:lpstr>Programación de acceso</vt:lpstr>
      <vt:lpstr>Gestión de clientes</vt:lpstr>
      <vt:lpstr>Programación de acceso</vt:lpstr>
      <vt:lpstr>CARRITO DE COMPRAS</vt:lpstr>
      <vt:lpstr>Programación de acceso</vt:lpstr>
      <vt:lpstr>Presentación de PowerPoint</vt:lpstr>
      <vt:lpstr>Programación de acceso</vt:lpstr>
      <vt:lpstr>CONCLUSIONES</vt:lpstr>
      <vt:lpstr>Presentación de PowerPoint</vt:lpstr>
      <vt:lpstr>TRABAJO EN EQUIPO (Evidencia de Trabajo en Equipo)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SOLUCIÓN DE ESCRITORIO PARA LA EMPRESA “BODEGA BYTE</dc:title>
  <dc:creator>LN41871675 (Garcia Cano, Luis Angel)</dc:creator>
  <cp:lastModifiedBy>Luis Angel Garcia</cp:lastModifiedBy>
  <cp:revision>3</cp:revision>
  <dcterms:created xsi:type="dcterms:W3CDTF">2025-12-07T15:27:17Z</dcterms:created>
  <dcterms:modified xsi:type="dcterms:W3CDTF">2025-12-17T01:01:42Z</dcterms:modified>
</cp:coreProperties>
</file>